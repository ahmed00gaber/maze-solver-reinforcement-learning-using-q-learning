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307" r:id="rId6"/>
    <p:sldId id="308" r:id="rId7"/>
    <p:sldId id="309" r:id="rId8"/>
    <p:sldId id="272" r:id="rId9"/>
    <p:sldId id="310" r:id="rId10"/>
    <p:sldId id="312" r:id="rId11"/>
    <p:sldId id="313" r:id="rId12"/>
    <p:sldId id="311" r:id="rId13"/>
    <p:sldId id="314" r:id="rId14"/>
    <p:sldId id="315" r:id="rId15"/>
    <p:sldId id="332" r:id="rId16"/>
    <p:sldId id="333" r:id="rId17"/>
    <p:sldId id="334" r:id="rId18"/>
    <p:sldId id="335" r:id="rId19"/>
    <p:sldId id="337" r:id="rId20"/>
    <p:sldId id="338" r:id="rId21"/>
    <p:sldId id="317" r:id="rId22"/>
    <p:sldId id="318" r:id="rId23"/>
    <p:sldId id="320" r:id="rId24"/>
    <p:sldId id="327" r:id="rId25"/>
    <p:sldId id="340" r:id="rId26"/>
    <p:sldId id="339" r:id="rId27"/>
    <p:sldId id="341" r:id="rId28"/>
    <p:sldId id="326" r:id="rId29"/>
    <p:sldId id="328" r:id="rId30"/>
    <p:sldId id="319" r:id="rId31"/>
    <p:sldId id="322" r:id="rId32"/>
    <p:sldId id="323" r:id="rId33"/>
    <p:sldId id="325" r:id="rId34"/>
    <p:sldId id="329" r:id="rId35"/>
    <p:sldId id="306" r:id="rId36"/>
  </p:sldIdLst>
  <p:sldSz cx="9144000" cy="5143500" type="screen16x9"/>
  <p:notesSz cx="6858000" cy="9144000"/>
  <p:embeddedFontLst>
    <p:embeddedFont>
      <p:font typeface="IBM Plex Mono" panose="020B0604020202020204" charset="0"/>
      <p:regular r:id="rId38"/>
      <p:bold r:id="rId39"/>
      <p:italic r:id="rId40"/>
      <p:boldItalic r:id="rId41"/>
    </p:embeddedFont>
    <p:embeddedFont>
      <p:font typeface="Poppins" panose="000008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BF9B65-A12C-4AA8-B05D-B23023B277FC}">
  <a:tblStyle styleId="{BCBF9B65-A12C-4AA8-B05D-B23023B277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278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122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258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414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262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262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578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041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2" name="Google Shape;14812;g20a542a8cd5_0_28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3" name="Google Shape;14813;g20a542a8cd5_0_28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65" r:id="rId6"/>
    <p:sldLayoutId id="2147483676" r:id="rId7"/>
    <p:sldLayoutId id="214748367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338891" y="344392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Made By: Ahmed Gaber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To: </a:t>
            </a:r>
            <a:r>
              <a:rPr lang="en-US" dirty="0" err="1"/>
              <a:t>Dr.Tarek</a:t>
            </a:r>
            <a:r>
              <a:rPr lang="en-US" dirty="0"/>
              <a:t> </a:t>
            </a:r>
            <a:r>
              <a:rPr lang="en-US" dirty="0" err="1"/>
              <a:t>Ghonimey</a:t>
            </a:r>
            <a:r>
              <a:rPr lang="en-US" dirty="0"/>
              <a:t> </a:t>
            </a:r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4400" dirty="0"/>
              <a:t>Q-Learning </a:t>
            </a:r>
            <a:br>
              <a:rPr lang="en-US" sz="3600" dirty="0"/>
            </a:br>
            <a:r>
              <a:rPr lang="en-US" sz="3200" dirty="0"/>
              <a:t>Maze Solver with Variable Grid Size</a:t>
            </a:r>
            <a:endParaRPr sz="36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Table of content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47F32-6372-4193-A522-1E7AC1DE63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54601" y="1017725"/>
            <a:ext cx="5573962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Introduction and Problem Definition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Fundamentals of Reinforcement Learning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Overview of the Q-Learning Algorithm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System Design and Architecture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Implementation Methodology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Experimental Results and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Challenges Encountered and Solutions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Future Enhancements and Work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  <a:p>
            <a:pPr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800000000000000" pitchFamily="2" charset="0"/>
                <a:cs typeface="Poppins" panose="00000800000000000000" pitchFamily="2" charset="0"/>
              </a:rPr>
              <a:t>Live Demonstration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84" name="Google Shape;1484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83886" y="1232482"/>
            <a:ext cx="7034112" cy="2832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Implementation of Q-learning reinforcement learning algorithm</a:t>
            </a:r>
          </a:p>
          <a:p>
            <a:r>
              <a:rPr lang="en-US" dirty="0"/>
              <a:t>for solving maze navigation problems with variable grid sizes</a:t>
            </a:r>
            <a:endParaRPr lang="en-US" sz="1600" b="1" dirty="0"/>
          </a:p>
          <a:p>
            <a:r>
              <a:rPr lang="en-US" sz="1600" b="1" dirty="0"/>
              <a:t>Problem Domain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 in unknown environments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planning in the presence of obstacles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optimal behavior without prior knowledge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/>
              <a:t>Key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an agent learn the best path through a maze?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learning parameters affect performance?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the agent handle new, unseen environments?</a:t>
            </a:r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Project Goals</a:t>
            </a:r>
            <a:endParaRPr dirty="0"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83886" y="1232483"/>
            <a:ext cx="7034112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Q-learning from scratch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flexible maze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effect of different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learning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on different grid sizes</a:t>
            </a:r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098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Reinforcement Learning Fundamentals</a:t>
            </a:r>
            <a:endParaRPr sz="2800"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4559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5CA2E4-D05E-4B98-A679-184C4F17B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48" y="1275558"/>
            <a:ext cx="4429743" cy="315321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7E89446-6FA3-4FB4-B44E-7D5D886C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RL Framework</a:t>
            </a:r>
          </a:p>
        </p:txBody>
      </p:sp>
    </p:spTree>
    <p:extLst>
      <p:ext uri="{BB962C8B-B14F-4D97-AF65-F5344CB8AC3E}">
        <p14:creationId xmlns:p14="http://schemas.microsoft.com/office/powerpoint/2010/main" val="47425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/>
              <a:t>Key Components</a:t>
            </a:r>
          </a:p>
        </p:txBody>
      </p:sp>
      <p:sp>
        <p:nvSpPr>
          <p:cNvPr id="2074" name="Google Shape;2074;p51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learning entity that interacts with the environment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maze defined by states, actions, and rewards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(s)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agent’s current position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(row, column)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(a)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Possible movements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(up, right, down, left)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(r)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Feedback received after taking an action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(π)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strategy used to choose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69D9-73A0-48E9-9D05-3FCF5F7C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79A25-A9BF-42DD-9E6E-586ECC5D5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314" y="1157476"/>
            <a:ext cx="5819371" cy="354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75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69D9-73A0-48E9-9D05-3FCF5F7C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79A25-A9BF-42DD-9E6E-586ECC5D5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65" y="827530"/>
            <a:ext cx="2866497" cy="17442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F65729-2A4B-43B6-BD18-6D67F82A5FBA}"/>
              </a:ext>
            </a:extLst>
          </p:cNvPr>
          <p:cNvSpPr/>
          <p:nvPr/>
        </p:nvSpPr>
        <p:spPr>
          <a:xfrm>
            <a:off x="406538" y="1495584"/>
            <a:ext cx="5677270" cy="2314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Q(s, a): </a:t>
            </a:r>
            <a:r>
              <a:rPr lang="en-US" dirty="0"/>
              <a:t>Estimated value of taking action a in state 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α (Learning Rate): </a:t>
            </a:r>
            <a:r>
              <a:rPr lang="en-US" dirty="0"/>
              <a:t>Controls how much new information overrides old values (0 ≤ α ≤ 1)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 (Reward): Immediate feedback after an action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γ (Discount Factor): Importance of future rewards (0 ≤ γ ≤ 1)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maxₐ′ Q(s′, a′): Maximum expected future reward from the next state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5C6067-7BDF-4E13-BA16-C4E1BB62CAE3}"/>
              </a:ext>
            </a:extLst>
          </p:cNvPr>
          <p:cNvSpPr/>
          <p:nvPr/>
        </p:nvSpPr>
        <p:spPr>
          <a:xfrm>
            <a:off x="914400" y="3820651"/>
            <a:ext cx="7680960" cy="877824"/>
          </a:xfrm>
          <a:prstGeom prst="roundRect">
            <a:avLst/>
          </a:prstGeom>
          <a:solidFill>
            <a:schemeClr val="bg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ε-greedy strategy</a:t>
            </a:r>
            <a:r>
              <a:rPr lang="en-US" dirty="0"/>
              <a:t> balances exploration (try new actions) and exploitation (use known best actions)</a:t>
            </a:r>
          </a:p>
        </p:txBody>
      </p:sp>
    </p:spTree>
    <p:extLst>
      <p:ext uri="{BB962C8B-B14F-4D97-AF65-F5344CB8AC3E}">
        <p14:creationId xmlns:p14="http://schemas.microsoft.com/office/powerpoint/2010/main" val="263017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413780" y="1906180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4400" dirty="0"/>
              <a:t> System Architecture</a:t>
            </a:r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76572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145615-BB98-43B4-9E72-DC09374A8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79932"/>
            <a:ext cx="3108960" cy="438363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F275F24-DD0A-4EEE-B998-B9EBE156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68" y="91457"/>
            <a:ext cx="7704000" cy="57270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731CE6-A54C-4FC1-BE4F-3021BB3F3782}"/>
              </a:ext>
            </a:extLst>
          </p:cNvPr>
          <p:cNvSpPr/>
          <p:nvPr/>
        </p:nvSpPr>
        <p:spPr>
          <a:xfrm>
            <a:off x="1073568" y="2181987"/>
            <a:ext cx="1950048" cy="779526"/>
          </a:xfrm>
          <a:prstGeom prst="roundRect">
            <a:avLst/>
          </a:prstGeom>
          <a:solidFill>
            <a:schemeClr val="bg1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902260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524126" y="2193733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4400" dirty="0"/>
              <a:t>Implementation Details</a:t>
            </a:r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989859" y="3318966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38335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/>
              <a:t>Implementation Details</a:t>
            </a:r>
          </a:p>
        </p:txBody>
      </p:sp>
      <p:sp>
        <p:nvSpPr>
          <p:cNvPr id="2074" name="Google Shape;2074;p51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2800" b="1" dirty="0"/>
              <a:t>Reward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E228BC-2574-4D17-B2F5-D4DB54BA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25" y="1840102"/>
            <a:ext cx="507753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93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2C3A976-55ED-4367-9D58-A21D55F3B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At the beginning the robot is explore doesn’t know anything Epsilon =1</a:t>
            </a:r>
          </a:p>
          <a:p>
            <a:pPr marL="13970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F41641-8DDC-4D48-B7F9-66030527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44972-6D77-4554-9A0E-6397C7701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36" y="1761812"/>
            <a:ext cx="3000794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1FB79-E592-40CB-9F56-11218510B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72" y="2873157"/>
            <a:ext cx="427732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70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5C6719-6ED7-44FB-A11F-7B9ED0A3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73" y="1151202"/>
            <a:ext cx="6388537" cy="3369688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8665CC26-75EA-4692-BC4E-D51F692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55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65CC26-75EA-4692-BC4E-D51F692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62D39A-2016-4E3D-8EE4-20AF0B1AA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004" y="1070810"/>
            <a:ext cx="4808374" cy="392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3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65CC26-75EA-4692-BC4E-D51F692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21019-0F05-43D7-90AD-2E27B3DF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968" y="1055270"/>
            <a:ext cx="5606100" cy="38433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80B0CB-239A-4264-9FB6-1C6FC1ED00E1}"/>
              </a:ext>
            </a:extLst>
          </p:cNvPr>
          <p:cNvSpPr/>
          <p:nvPr/>
        </p:nvSpPr>
        <p:spPr>
          <a:xfrm>
            <a:off x="5036090" y="4162441"/>
            <a:ext cx="38122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Now the agent learned </a:t>
            </a:r>
            <a:r>
              <a:rPr lang="en-US" b="1" dirty="0">
                <a:solidFill>
                  <a:srgbClr val="FF0000"/>
                </a:solidFill>
              </a:rPr>
              <a:t>Down is slightly bad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3915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65CC26-75EA-4692-BC4E-D51F692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6270CE-8D3E-437B-9F31-3E59F719F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495" y="1137829"/>
            <a:ext cx="5695009" cy="35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32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65CC26-75EA-4692-BC4E-D51F692E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725" y="444500"/>
            <a:ext cx="7702550" cy="573088"/>
          </a:xfrm>
        </p:spPr>
        <p:txBody>
          <a:bodyPr/>
          <a:lstStyle/>
          <a:p>
            <a:r>
              <a:rPr lang="en-US" dirty="0"/>
              <a:t>Q-Learning Numerical Example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25BB2-244A-496F-9BD7-C027C04A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36" y="1224000"/>
            <a:ext cx="6492207" cy="269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24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Parameter Configuration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8A1479-4ED2-4BA6-9565-8D06F801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921095"/>
              </p:ext>
            </p:extLst>
          </p:nvPr>
        </p:nvGraphicFramePr>
        <p:xfrm>
          <a:off x="810324" y="1592706"/>
          <a:ext cx="7711212" cy="252819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095042">
                  <a:extLst>
                    <a:ext uri="{9D8B030D-6E8A-4147-A177-3AD203B41FA5}">
                      <a16:colId xmlns:a16="http://schemas.microsoft.com/office/drawing/2014/main" val="3710800505"/>
                    </a:ext>
                  </a:extLst>
                </a:gridCol>
                <a:gridCol w="2393180">
                  <a:extLst>
                    <a:ext uri="{9D8B030D-6E8A-4147-A177-3AD203B41FA5}">
                      <a16:colId xmlns:a16="http://schemas.microsoft.com/office/drawing/2014/main" val="2850181962"/>
                    </a:ext>
                  </a:extLst>
                </a:gridCol>
                <a:gridCol w="3222990">
                  <a:extLst>
                    <a:ext uri="{9D8B030D-6E8A-4147-A177-3AD203B41FA5}">
                      <a16:colId xmlns:a16="http://schemas.microsoft.com/office/drawing/2014/main" val="3407727335"/>
                    </a:ext>
                  </a:extLst>
                </a:gridCol>
              </a:tblGrid>
              <a:tr h="54777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C000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C000"/>
                          </a:solidFill>
                        </a:rPr>
                        <a:t>Typical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C000"/>
                          </a:solidFill>
                        </a:rPr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011202"/>
                  </a:ext>
                </a:extLst>
              </a:tr>
              <a:tr h="42136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Learning Rate (</a:t>
                      </a:r>
                      <a:r>
                        <a:rPr lang="el-GR"/>
                        <a:t>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0.01 – 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Controls convergence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061902"/>
                  </a:ext>
                </a:extLst>
              </a:tr>
              <a:tr h="71632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Discount Factor (</a:t>
                      </a:r>
                      <a:r>
                        <a:rPr lang="el-GR"/>
                        <a:t>γ)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 – 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Determines importance of future rewards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57710"/>
                  </a:ext>
                </a:extLst>
              </a:tr>
              <a:tr h="42136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Initial </a:t>
                      </a:r>
                      <a:r>
                        <a:rPr lang="el-GR"/>
                        <a:t>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0.5 – 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Sets initial exploration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43018"/>
                  </a:ext>
                </a:extLst>
              </a:tr>
              <a:tr h="421365"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ε </a:t>
                      </a:r>
                      <a:r>
                        <a:rPr lang="en-US" dirty="0"/>
                        <a:t>Decay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 – 0.9999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Controls rate of exploration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59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55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524126" y="2193733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4400" dirty="0"/>
              <a:t>Results &amp; Analysis</a:t>
            </a:r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989859" y="3318966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93654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3F8F4-03F4-4E45-8EEF-A7437D1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AB55A-FB0A-4474-A783-069467BD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55" y="1875727"/>
            <a:ext cx="3141472" cy="21055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C95B92-56EE-43CB-8DD7-987F2A833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482" y="1198950"/>
            <a:ext cx="4935063" cy="345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2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3F8F4-03F4-4E45-8EEF-A7437D1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618D80-D8EA-4E94-AE00-5156D622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501" y="1155175"/>
            <a:ext cx="4463547" cy="32363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3B653D-85B0-4153-A275-689D166F9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79" y="1528011"/>
            <a:ext cx="3890478" cy="260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48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3F8F4-03F4-4E45-8EEF-A7437D1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3B41C-3B50-42CC-85A7-750FD3CBE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11" y="1347536"/>
            <a:ext cx="4207310" cy="30560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D0D80-AFAB-4A63-847A-3E7E3D9CC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5" y="1652859"/>
            <a:ext cx="3108807" cy="2210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A717E-B84A-44FF-A492-2DF71D82EB9D}"/>
              </a:ext>
            </a:extLst>
          </p:cNvPr>
          <p:cNvSpPr txBox="1"/>
          <p:nvPr/>
        </p:nvSpPr>
        <p:spPr>
          <a:xfrm>
            <a:off x="1491916" y="4403557"/>
            <a:ext cx="1080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solution</a:t>
            </a:r>
          </a:p>
        </p:txBody>
      </p:sp>
    </p:spTree>
    <p:extLst>
      <p:ext uri="{BB962C8B-B14F-4D97-AF65-F5344CB8AC3E}">
        <p14:creationId xmlns:p14="http://schemas.microsoft.com/office/powerpoint/2010/main" val="1258050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3F8F4-03F4-4E45-8EEF-A7437D1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645C0-6BEB-41F1-ACF6-74C775CEA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68" y="1142544"/>
            <a:ext cx="4632690" cy="3374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EB1D51-C57F-4F86-A475-7DB231ED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4" y="1603742"/>
            <a:ext cx="3722281" cy="259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19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3F8F4-03F4-4E45-8EEF-A7437D1E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949BD-59E3-4F60-8743-2F33CD37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58" y="1080369"/>
            <a:ext cx="5122542" cy="35397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9ED729-5ADB-4095-9FB8-76E12D94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5" y="1478178"/>
            <a:ext cx="3485911" cy="238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45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2B6AEB-3040-420A-A90E-1804940D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184" y="1083626"/>
            <a:ext cx="3438709" cy="3253832"/>
          </a:xfrm>
          <a:prstGeom prst="rect">
            <a:avLst/>
          </a:prstGeom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C8DC09E6-97F4-4562-B0AF-FC810D475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107" y="1160775"/>
            <a:ext cx="4332430" cy="3455700"/>
          </a:xfrm>
        </p:spPr>
        <p:txBody>
          <a:bodyPr/>
          <a:lstStyle/>
          <a:p>
            <a:r>
              <a:rPr lang="en-US" dirty="0">
                <a:latin typeface="+mj-lt"/>
              </a:rPr>
              <a:t>The </a:t>
            </a:r>
            <a:r>
              <a:rPr lang="en-US" b="1" dirty="0">
                <a:latin typeface="+mj-lt"/>
              </a:rPr>
              <a:t>heatmap</a:t>
            </a:r>
            <a:r>
              <a:rPr lang="en-US" dirty="0">
                <a:latin typeface="+mj-lt"/>
              </a:rPr>
              <a:t> shows the </a:t>
            </a:r>
            <a:r>
              <a:rPr lang="en-US" b="1" dirty="0">
                <a:latin typeface="+mj-lt"/>
              </a:rPr>
              <a:t>maximum Q-value</a:t>
            </a:r>
            <a:r>
              <a:rPr lang="en-US" dirty="0">
                <a:latin typeface="+mj-lt"/>
              </a:rPr>
              <a:t> for each state in the maze.</a:t>
            </a:r>
          </a:p>
          <a:p>
            <a:r>
              <a:rPr lang="en-US" b="1" dirty="0">
                <a:latin typeface="+mj-lt"/>
              </a:rPr>
              <a:t>Color intensity: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Dark (low Q-value) → states less valuable or rarely visited.</a:t>
            </a:r>
          </a:p>
          <a:p>
            <a:pPr lvl="1"/>
            <a:r>
              <a:rPr lang="en-US" dirty="0">
                <a:latin typeface="+mj-lt"/>
              </a:rPr>
              <a:t>Bright (high Q-value) → states closer to the goal or important for reaching it.</a:t>
            </a:r>
          </a:p>
          <a:p>
            <a:r>
              <a:rPr lang="en-US" dirty="0">
                <a:latin typeface="+mj-lt"/>
              </a:rPr>
              <a:t>The agent assigns </a:t>
            </a:r>
            <a:r>
              <a:rPr lang="en-US" b="1" dirty="0">
                <a:latin typeface="+mj-lt"/>
              </a:rPr>
              <a:t>higher values </a:t>
            </a:r>
            <a:r>
              <a:rPr lang="en-US" dirty="0">
                <a:latin typeface="+mj-lt"/>
              </a:rPr>
              <a:t>to states that lead more directly to the goal</a:t>
            </a:r>
          </a:p>
          <a:p>
            <a:r>
              <a:rPr lang="en-US" dirty="0">
                <a:latin typeface="+mj-lt"/>
              </a:rPr>
              <a:t>Notice how the Q-values increase along the path from start to goal (bright regions along the learned path).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EA683A-3890-4EDA-8E75-644ABE5B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Q-Value heatmap</a:t>
            </a:r>
          </a:p>
        </p:txBody>
      </p:sp>
    </p:spTree>
    <p:extLst>
      <p:ext uri="{BB962C8B-B14F-4D97-AF65-F5344CB8AC3E}">
        <p14:creationId xmlns:p14="http://schemas.microsoft.com/office/powerpoint/2010/main" val="120564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8DC09E6-97F4-4562-B0AF-FC810D475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106" y="1160775"/>
            <a:ext cx="4837757" cy="3455700"/>
          </a:xfrm>
        </p:spPr>
        <p:txBody>
          <a:bodyPr/>
          <a:lstStyle/>
          <a:p>
            <a:r>
              <a:rPr lang="en-US" dirty="0"/>
              <a:t>Learning efficiency tells us </a:t>
            </a:r>
            <a:r>
              <a:rPr lang="en-US" b="1" dirty="0"/>
              <a:t>how quickly and consistently</a:t>
            </a:r>
            <a:r>
              <a:rPr lang="en-US" dirty="0"/>
              <a:t> the agent is improving at solving the maze</a:t>
            </a:r>
          </a:p>
          <a:p>
            <a:r>
              <a:rPr lang="en-US" dirty="0">
                <a:latin typeface="+mj-lt"/>
              </a:rPr>
              <a:t>The Problem with Raw Data:</a:t>
            </a:r>
          </a:p>
          <a:p>
            <a:pPr lvl="1"/>
            <a:r>
              <a:rPr lang="en-US" dirty="0">
                <a:latin typeface="+mj-lt"/>
              </a:rPr>
              <a:t>Episode 1: 200 steps</a:t>
            </a:r>
          </a:p>
          <a:p>
            <a:pPr lvl="1"/>
            <a:r>
              <a:rPr lang="en-US" dirty="0">
                <a:latin typeface="+mj-lt"/>
              </a:rPr>
              <a:t>Episode 2: 30 steps</a:t>
            </a:r>
          </a:p>
          <a:p>
            <a:pPr lvl="1"/>
            <a:r>
              <a:rPr lang="en-US" dirty="0">
                <a:latin typeface="+mj-lt"/>
              </a:rPr>
              <a:t>Episode 3: 180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Exploration (random actions) creates spikes and drops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The Solution: 50-Episode Moving Average:</a:t>
            </a:r>
          </a:p>
          <a:p>
            <a:pPr lvl="1"/>
            <a:r>
              <a:rPr lang="en-US" dirty="0">
                <a:latin typeface="+mj-lt"/>
              </a:rPr>
              <a:t>Takes the average of the last 50 episodes for each point</a:t>
            </a:r>
          </a:p>
          <a:p>
            <a:pPr lvl="1"/>
            <a:r>
              <a:rPr lang="en-US" dirty="0">
                <a:latin typeface="+mj-lt"/>
              </a:rPr>
              <a:t>Smooths out temporary fluctuations</a:t>
            </a:r>
          </a:p>
          <a:p>
            <a:pPr lvl="1"/>
            <a:r>
              <a:rPr lang="en-US" dirty="0">
                <a:latin typeface="+mj-lt"/>
              </a:rPr>
              <a:t>Reveals the true learning trajectory</a:t>
            </a:r>
          </a:p>
          <a:p>
            <a:pPr lvl="1"/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EA683A-3890-4EDA-8E75-644ABE5B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efficiency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C61DC-83AD-4733-98BC-2C3477EF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89" y="1017725"/>
            <a:ext cx="3518612" cy="248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61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03680F-A2E5-4BD9-8C8D-B5BCC574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Progress Visualization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D94BD7-FA09-44D5-8A1F-E9A2068BD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158575"/>
              </p:ext>
            </p:extLst>
          </p:nvPr>
        </p:nvGraphicFramePr>
        <p:xfrm>
          <a:off x="712788" y="1671955"/>
          <a:ext cx="7681911" cy="2377440"/>
        </p:xfrm>
        <a:graphic>
          <a:graphicData uri="http://schemas.openxmlformats.org/drawingml/2006/table">
            <a:tbl>
              <a:tblPr/>
              <a:tblGrid>
                <a:gridCol w="2560637">
                  <a:extLst>
                    <a:ext uri="{9D8B030D-6E8A-4147-A177-3AD203B41FA5}">
                      <a16:colId xmlns:a16="http://schemas.microsoft.com/office/drawing/2014/main" val="1860618656"/>
                    </a:ext>
                  </a:extLst>
                </a:gridCol>
                <a:gridCol w="2560637">
                  <a:extLst>
                    <a:ext uri="{9D8B030D-6E8A-4147-A177-3AD203B41FA5}">
                      <a16:colId xmlns:a16="http://schemas.microsoft.com/office/drawing/2014/main" val="3624298119"/>
                    </a:ext>
                  </a:extLst>
                </a:gridCol>
                <a:gridCol w="2560637">
                  <a:extLst>
                    <a:ext uri="{9D8B030D-6E8A-4147-A177-3AD203B41FA5}">
                      <a16:colId xmlns:a16="http://schemas.microsoft.com/office/drawing/2014/main" val="3653040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How It Is Measured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Observed Result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6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Average Reward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Mean cumulative reward per episode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−12.45 → 8.76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93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Steps to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Average number of steps to reach the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58 → 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645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Success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Successful episodes ÷ total episodes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12% → 94%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76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Convergence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Episode where learning stabilizes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~350 episodes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051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293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DC14926-423A-47AF-B447-EDDA753E3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1. Grid Size Scalability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Small (3×3 – 5×5): Learn in &lt; 200 episodes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Medium (6×6 – 10×10): Learn in 500–1000 episodes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Large (&gt;10×10): Require &gt; 2000 episodes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2. Wall Density Impact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&lt;10% walls: Easy navigation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10–30% walls: Optimal learning challenge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&gt;30% walls: High chance of unsolvable mazes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8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BFF4BA-ACF8-4016-AE62-6B96703E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8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6951BDB-18CE-4EE1-82A4-F64F41F35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For 8×8 maze with 20% walls: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α = 0.15      (Learning Rate)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/>
              <a:t>γ = 0.92      (Discount Factor)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/>
              <a:t>ε_start</a:t>
            </a:r>
            <a:r>
              <a:rPr lang="en-US" sz="1800" b="1" dirty="0"/>
              <a:t> = 1.0 (Initial Exploration)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/>
              <a:t>ε_decay</a:t>
            </a:r>
            <a:r>
              <a:rPr lang="en-US" sz="1800" b="1" dirty="0"/>
              <a:t> = 0.995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524460-C02D-4C81-AF9C-05E39772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Parameter Settings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D349F-2F5F-43A3-B195-C66B222E2BF6}"/>
              </a:ext>
            </a:extLst>
          </p:cNvPr>
          <p:cNvSpPr/>
          <p:nvPr/>
        </p:nvSpPr>
        <p:spPr>
          <a:xfrm>
            <a:off x="1022685" y="3564990"/>
            <a:ext cx="7408090" cy="1299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17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Early episodes: Random exploration</a:t>
            </a:r>
          </a:p>
          <a:p>
            <a:pPr indent="-317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Middle episodes: Learning shortest paths</a:t>
            </a:r>
          </a:p>
          <a:p>
            <a:pPr indent="-317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Late episodes: Optimized policy convergence</a:t>
            </a:r>
          </a:p>
        </p:txBody>
      </p:sp>
    </p:spTree>
    <p:extLst>
      <p:ext uri="{BB962C8B-B14F-4D97-AF65-F5344CB8AC3E}">
        <p14:creationId xmlns:p14="http://schemas.microsoft.com/office/powerpoint/2010/main" val="2162299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C6E4011-78BE-4B3C-9964-ED60FA2A3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>
                <a:latin typeface="+mj-lt"/>
              </a:rPr>
              <a:t>1. Exploration-Exploitation Tradeoff</a:t>
            </a:r>
            <a:endParaRPr lang="en-US" dirty="0">
              <a:latin typeface="+mj-lt"/>
            </a:endParaRPr>
          </a:p>
          <a:p>
            <a:pPr marL="8826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Problem:</a:t>
            </a:r>
            <a:r>
              <a:rPr lang="en-US" dirty="0">
                <a:latin typeface="+mj-lt"/>
              </a:rPr>
              <a:t> Too much exploration slows learning; too much exploitation </a:t>
            </a:r>
            <a:r>
              <a:rPr lang="en-US" b="1" dirty="0">
                <a:latin typeface="+mj-lt"/>
              </a:rPr>
              <a:t>Solution:</a:t>
            </a:r>
            <a:r>
              <a:rPr lang="en-US" dirty="0">
                <a:latin typeface="+mj-lt"/>
              </a:rPr>
              <a:t> Adaptive ε-decay with minimum exploration</a:t>
            </a:r>
          </a:p>
          <a:p>
            <a:pPr marL="139700" indent="0">
              <a:buNone/>
            </a:pPr>
            <a:r>
              <a:rPr lang="en-US" b="1" dirty="0">
                <a:latin typeface="+mj-lt"/>
              </a:rPr>
              <a:t>2. Sparse Rewards</a:t>
            </a:r>
            <a:endParaRPr lang="en-US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Problem:</a:t>
            </a:r>
            <a:r>
              <a:rPr lang="en-US" dirty="0">
                <a:latin typeface="+mj-lt"/>
              </a:rPr>
              <a:t> Only reaching the goal gives positive reward → slow learning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Solution:</a:t>
            </a:r>
            <a:r>
              <a:rPr lang="en-US" dirty="0">
                <a:latin typeface="+mj-lt"/>
              </a:rPr>
              <a:t> Step penalty (-0.1) and wall penalty (-5) guide learning</a:t>
            </a:r>
          </a:p>
          <a:p>
            <a:pPr marL="139700" indent="0">
              <a:buNone/>
            </a:pPr>
            <a:r>
              <a:rPr lang="en-US" b="1" dirty="0">
                <a:latin typeface="+mj-lt"/>
              </a:rPr>
              <a:t>3. State Space Explosion</a:t>
            </a:r>
            <a:endParaRPr lang="en-US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Problem:</a:t>
            </a:r>
            <a:r>
              <a:rPr lang="en-US" dirty="0">
                <a:latin typeface="+mj-lt"/>
              </a:rPr>
              <a:t> Larger grids exponentially increase states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Solution:</a:t>
            </a:r>
            <a:r>
              <a:rPr lang="en-US" dirty="0">
                <a:latin typeface="+mj-lt"/>
              </a:rPr>
              <a:t> Tabular Q-learning effective up to 15×15; larger grids need function approximation</a:t>
            </a:r>
          </a:p>
          <a:p>
            <a:pPr marL="139700" indent="0">
              <a:buNone/>
            </a:pPr>
            <a:r>
              <a:rPr lang="en-US" b="1" dirty="0">
                <a:latin typeface="+mj-lt"/>
              </a:rPr>
              <a:t>4. Convergence Validation</a:t>
            </a:r>
            <a:endParaRPr lang="en-US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Problem:</a:t>
            </a:r>
            <a:r>
              <a:rPr lang="en-US" dirty="0">
                <a:latin typeface="+mj-lt"/>
              </a:rPr>
              <a:t> Knowing when the policy is optimal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Solution:</a:t>
            </a:r>
            <a:r>
              <a:rPr lang="en-US" dirty="0">
                <a:latin typeface="+mj-lt"/>
              </a:rPr>
              <a:t> Track moving average of rewards and steps to goal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9A1462-2ED6-423E-B832-3056529D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Challenges &amp; Solutions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762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524126" y="2193733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4400"/>
              <a:t>Demo</a:t>
            </a:r>
            <a:endParaRPr lang="en-US" sz="4400"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8"/>
          <p:cNvGrpSpPr/>
          <p:nvPr/>
        </p:nvGrpSpPr>
        <p:grpSpPr>
          <a:xfrm>
            <a:off x="989859" y="3318966"/>
            <a:ext cx="4558967" cy="134100"/>
            <a:chOff x="796100" y="3019701"/>
            <a:chExt cx="4558967" cy="134100"/>
          </a:xfrm>
        </p:grpSpPr>
        <p:sp>
          <p:nvSpPr>
            <p:cNvPr id="1523" name="Google Shape;1523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4" name="Google Shape;1524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5" name="Google Shape;1525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06174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4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E1C98-85FC-4ED5-BF2C-380099C10B85}"/>
              </a:ext>
            </a:extLst>
          </p:cNvPr>
          <p:cNvSpPr txBox="1"/>
          <p:nvPr/>
        </p:nvSpPr>
        <p:spPr>
          <a:xfrm>
            <a:off x="1645920" y="1572768"/>
            <a:ext cx="609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914</Words>
  <Application>Microsoft Office PowerPoint</Application>
  <PresentationFormat>On-screen Show (16:9)</PresentationFormat>
  <Paragraphs>159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IBM Plex Mono</vt:lpstr>
      <vt:lpstr>Arial</vt:lpstr>
      <vt:lpstr>Times New Roman</vt:lpstr>
      <vt:lpstr>Poppins</vt:lpstr>
      <vt:lpstr>Wingdings</vt:lpstr>
      <vt:lpstr>Open Sans</vt:lpstr>
      <vt:lpstr>Roboto Condensed Light</vt:lpstr>
      <vt:lpstr>Introduction to Coding Workshop by Slidesgo</vt:lpstr>
      <vt:lpstr>Q-Learning  Maze Solver with Variable Grid Size</vt:lpstr>
      <vt:lpstr>Table of content</vt:lpstr>
      <vt:lpstr>01</vt:lpstr>
      <vt:lpstr>Introduction</vt:lpstr>
      <vt:lpstr>Project Goals</vt:lpstr>
      <vt:lpstr>02</vt:lpstr>
      <vt:lpstr> RL Framework</vt:lpstr>
      <vt:lpstr>Key Components</vt:lpstr>
      <vt:lpstr>Q-Learning Algorithm</vt:lpstr>
      <vt:lpstr>Q-Learning Algorithm</vt:lpstr>
      <vt:lpstr>03</vt:lpstr>
      <vt:lpstr>System Architecture</vt:lpstr>
      <vt:lpstr>04</vt:lpstr>
      <vt:lpstr>Implementation Details</vt:lpstr>
      <vt:lpstr>Q-Learning Numerical Example </vt:lpstr>
      <vt:lpstr>Q-Learning Numerical Example </vt:lpstr>
      <vt:lpstr>Q-Learning Numerical Example </vt:lpstr>
      <vt:lpstr>Q-Learning Numerical Example </vt:lpstr>
      <vt:lpstr>Q-Learning Numerical Example </vt:lpstr>
      <vt:lpstr>Q-Learning Numerical Example </vt:lpstr>
      <vt:lpstr>Parameter Configuration</vt:lpstr>
      <vt:lpstr>05</vt:lpstr>
      <vt:lpstr>Performance Metrics</vt:lpstr>
      <vt:lpstr>Performance Metrics</vt:lpstr>
      <vt:lpstr>Performance Metrics</vt:lpstr>
      <vt:lpstr>Performance Metrics</vt:lpstr>
      <vt:lpstr>Performance Metrics</vt:lpstr>
      <vt:lpstr>Q-Value heatmap</vt:lpstr>
      <vt:lpstr>Learning efficiency </vt:lpstr>
      <vt:lpstr>Training Progress Visualization</vt:lpstr>
      <vt:lpstr>Key Findings </vt:lpstr>
      <vt:lpstr>Optimal Parameter Settings </vt:lpstr>
      <vt:lpstr>8. Challenges &amp; Solutions </vt:lpstr>
      <vt:lpstr>06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Q-learning </dc:title>
  <cp:lastModifiedBy>Ahmed Mohamed Gaber Ahmed</cp:lastModifiedBy>
  <cp:revision>14</cp:revision>
  <dcterms:modified xsi:type="dcterms:W3CDTF">2026-01-02T16:31:47Z</dcterms:modified>
</cp:coreProperties>
</file>